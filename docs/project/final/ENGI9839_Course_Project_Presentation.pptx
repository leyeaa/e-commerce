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763D9-13BA-450C-9A76-297939F961EC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55526-52FD-46F3-B054-01EC1A607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4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compared human-authored deterministic API tests with Schemathesis fuzzing on cart update and order creation. Exploratory testing was a separate required system-level activity. Our question was not which technique wins universally, but how they differ in defects, coverage, effort, and fault type on this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9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Both formal techniques targeted the same two endpoints and baseline. The human-authored suite deliberately checked ownership, mutation after rejection, persistence, totals, and rollback. Schemathesis generated positive, negative, coverage, and fuzz inputs and checked response properties. Known defects were tagged K and excluded from novel counts. This avoided claiming repeated symptoms as separate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80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3,252 generated cases produced nine failing cases and fifteen raw failed checks, but these reduced to only K-002, K-004, and K-009. The human-authored suite reproduced K-001 through K-007 and K-009. One expected manual failure passed and led us to reject K-008 as a duplicate misclassification, which is an important validity result rather than a product success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62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human-authored advantage came from deeper application-specific oracles, not from manual execution—the tests themselves ran automatically. Schemathesis reduced case-by-case input design and repeatedly exposed input-validation failures, but response-level black-box checks could not directly detect missing database fields or partial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1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Exploration followed the complete frontend journey and therefore found issues outside the two-operation formal scope: no cart refetch after login, misleading expired-authentication handling, and empty image-source warnings. E-02 added no new root cause, but showed that long and whitespace checkout values reproduced missing validation. Retrying the punctuation-rich address after login proved that punctuation was not the cause of the earlier 401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13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this case, 20 targeted tests expressed more defect-revealing backend oracles than thousands of generated cases, while fuzzing provided systematic input breadth and repeatability. Exploratory testing added user-visible findings but had broader scope, so it is reported separately rather than declared the winner. These results cannot support a general ranking. The work also involved genuine challenges: isolating destructive state, correcting schema and harness inaccuracies, preserving and repeating an aborted fuzz run, rejecting K-008 after an unexpected pass, and distinguishing expired JWTs from address validation. Prospective formal-effort logs remain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6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Human-designed oracles found deeper data-integrity and transaction faults. Schemathesis efficiently exercised the contract-invalid input surface. Exploratory testing exposed authentication and frontend lifecycle behavior. Future work should add more endpoints and tools, independent testers, mutation testing, and post-baseline regression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55526-52FD-46F3-B054-01EC1A607C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39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9163-4832-1C95-01DA-23106BA95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8F29D-F410-505B-86E9-87B88C1D3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CA761-E2D0-7D43-BC50-B46E53D0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00B01-7E43-5B60-8964-A5622DAD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0A9AD-9211-41D3-A1A1-BC998545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3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C5DE-30E2-CD19-85B9-0D097706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43CE5-8DC8-96E5-FA9C-18C06AB29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478AD-2DCA-402E-36EC-61C2C21A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3BDC0-4418-0D6F-0DFF-037A9A8E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621E-E0B9-0480-3722-A01C527A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3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88EF-F834-62E4-6F66-EB6FC1EA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6164-C6B9-7CBD-6A2D-600EE5CC6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E0D69-1875-21B8-5EF2-906FE535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3EB76-EBED-4070-B9B1-33FE2B63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D364D-76A2-221E-9D16-E264A4C4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3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C9E6-B585-E041-8B37-D4FCBA9C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8209E-E114-4008-0994-63C80EDD8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11288-979A-A9F1-F07F-6DE9BE990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374DF-D142-2AA7-17C4-B028A557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32C3C-3D1A-4335-0985-61A9F96E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9C5BE-5896-6D9C-2BD5-5E8B862D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3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FA15-CA55-96C3-F621-EEC88445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7E9B9-413C-77D5-52E3-56982040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71AC5-2166-E5B2-1DFD-426E93FAF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7D3D8-3724-6B09-5E1A-A81D5B5E3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9B027-4CF0-08A4-1B43-277DE375F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45166-22B9-8988-D058-855B5E61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F702E-DA77-D519-C621-767711D1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8C34B-84F7-A033-24DF-92DA2BBA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2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C59C-1ECE-8C48-A75C-7154088C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9C955-85C4-FEBA-9F24-D38C1843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7BA9D-7E57-FCD1-6167-DB705878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2C732-7496-C485-C050-C47223EB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8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4F9E4-134C-A84E-3512-FA55FF75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A0A8C-140F-51A8-948E-D50D9FB6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EA7AF-6796-12CD-F4CE-C081D8DB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9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87B7-E0BA-E511-3F0E-3F694F33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C71F3-BB24-1F4B-AE9E-443C65042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E922C-0EEE-9FDB-A661-E6CD19914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E8DAC-5116-1E95-F2FD-1802841F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F83F7-F7B2-04AD-4DD3-BB4B6278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F3ABC-ADF8-1DC4-51EE-1765E8A7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2B12-6F55-B7A9-A9D6-11556AC7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282E0-D341-3E99-5D00-962CFA6C7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68892-FF56-694E-2678-06C767BED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B2488-8C2E-4219-9583-3D573C86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8E15C-D559-DFAC-5A96-19F3C825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67C06-3E8B-0D23-12F6-4AC3DAE3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0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B869-34D3-92E7-0E6D-BF00D3E5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94BCA-C8C4-C3A4-A4BF-185F46AD3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6F0AE-710A-93F5-5E6B-1AAF2D18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D3BD4-1B99-FC3B-CE9F-B9374DCA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F8CAC-F865-19FF-7C69-FAEB6EF1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6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8AF47-41B2-1D44-5050-021F8B160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32521-CFB6-991B-F2E7-C4EA8D45A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4A5B-C836-F88E-8280-8684D358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5858F-D66A-1B19-028A-ECACDD01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01AD1-5B33-C41A-239B-FC5BC223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9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AD682-9A65-3DDD-D6EB-184F5A8C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26CFB-B827-4C3D-A981-BF18BD8C4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68C5D-CAE6-4D6A-0979-84AC965D4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8F69C-19B5-42B2-8E45-C92F59D2FEE2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7D64D-F871-4BA8-4948-AFE8AB759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92F38-B252-85DA-5D52-2CC8C9A9C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58540-6029-4981-982C-3BE43F4A2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8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AAF4C8-ABA2-5864-5F84-1BB42FC05A86}"/>
              </a:ext>
            </a:extLst>
          </p:cNvPr>
          <p:cNvSpPr/>
          <p:nvPr/>
        </p:nvSpPr>
        <p:spPr>
          <a:xfrm>
            <a:off x="0" y="0"/>
            <a:ext cx="165100" cy="6858000"/>
          </a:xfrm>
          <a:prstGeom prst="rect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0C70D-13E5-15EC-AE76-278F966FC00E}"/>
              </a:ext>
            </a:extLst>
          </p:cNvPr>
          <p:cNvSpPr txBox="1"/>
          <p:nvPr/>
        </p:nvSpPr>
        <p:spPr>
          <a:xfrm>
            <a:off x="711200" y="609600"/>
            <a:ext cx="4064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ENGI 9839 COURSE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0EA16-4F08-C29A-F435-844231F4ADF1}"/>
              </a:ext>
            </a:extLst>
          </p:cNvPr>
          <p:cNvSpPr txBox="1"/>
          <p:nvPr/>
        </p:nvSpPr>
        <p:spPr>
          <a:xfrm>
            <a:off x="711200" y="1244600"/>
            <a:ext cx="10541000" cy="112338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 Display" panose="020B0004020202020204" pitchFamily="34" charset="0"/>
              </a:rPr>
              <a:t>Manual API Tests vs.
Schema-Driven API Fuzzing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CF62A-87F0-6053-0B03-BB831A570544}"/>
              </a:ext>
            </a:extLst>
          </p:cNvPr>
          <p:cNvSpPr txBox="1"/>
          <p:nvPr/>
        </p:nvSpPr>
        <p:spPr>
          <a:xfrm>
            <a:off x="736600" y="2933700"/>
            <a:ext cx="8382000" cy="3847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it-IT" sz="2000">
                <a:solidFill>
                  <a:srgbClr val="CBD8E6"/>
                </a:solidFill>
                <a:latin typeface="Aptos" panose="020B0004020202020204" pitchFamily="34" charset="0"/>
              </a:rPr>
              <a:t>A Django/PostgreSQL e-commerce case study</a:t>
            </a:r>
            <a:endParaRPr lang="en-US" sz="2000">
              <a:solidFill>
                <a:srgbClr val="CBD8E6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10DAAD-29CA-1251-0E78-FDC656D3AE86}"/>
              </a:ext>
            </a:extLst>
          </p:cNvPr>
          <p:cNvSpPr/>
          <p:nvPr/>
        </p:nvSpPr>
        <p:spPr>
          <a:xfrm>
            <a:off x="736600" y="3835400"/>
            <a:ext cx="10718800" cy="12700"/>
          </a:xfrm>
          <a:prstGeom prst="rect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A07DF-56AC-BB70-B4B1-084A04F0DB4A}"/>
              </a:ext>
            </a:extLst>
          </p:cNvPr>
          <p:cNvSpPr txBox="1"/>
          <p:nvPr/>
        </p:nvSpPr>
        <p:spPr>
          <a:xfrm>
            <a:off x="736600" y="4140200"/>
            <a:ext cx="6223000" cy="78483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Aptos" panose="020B0004020202020204" pitchFamily="34" charset="0"/>
              </a:rPr>
              <a:t>Can generated input volume replace
targeted business-state oracles?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C5405F-8FB9-2556-1E6A-7725A380B01B}"/>
              </a:ext>
            </a:extLst>
          </p:cNvPr>
          <p:cNvSpPr/>
          <p:nvPr/>
        </p:nvSpPr>
        <p:spPr>
          <a:xfrm>
            <a:off x="8801100" y="4114800"/>
            <a:ext cx="2654300" cy="1054100"/>
          </a:xfrm>
          <a:prstGeom prst="roundRect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DE997-2EDE-5E1C-53F6-6FCD1571909C}"/>
              </a:ext>
            </a:extLst>
          </p:cNvPr>
          <p:cNvSpPr txBox="1"/>
          <p:nvPr/>
        </p:nvSpPr>
        <p:spPr>
          <a:xfrm>
            <a:off x="9029700" y="4318000"/>
            <a:ext cx="2222500" cy="2308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000" b="1">
                <a:solidFill>
                  <a:srgbClr val="EF8B3D"/>
                </a:solidFill>
                <a:latin typeface="Aptos" panose="020B0004020202020204" pitchFamily="34" charset="0"/>
              </a:rPr>
              <a:t>FORMAL 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5B152-61B6-D3BB-2D6B-A4D540A6EDCC}"/>
              </a:ext>
            </a:extLst>
          </p:cNvPr>
          <p:cNvSpPr txBox="1"/>
          <p:nvPr/>
        </p:nvSpPr>
        <p:spPr>
          <a:xfrm>
            <a:off x="9029700" y="4635500"/>
            <a:ext cx="22987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2 authenticated endpoints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27C84-8232-345B-EEF5-5842549C97E8}"/>
              </a:ext>
            </a:extLst>
          </p:cNvPr>
          <p:cNvSpPr txBox="1"/>
          <p:nvPr/>
        </p:nvSpPr>
        <p:spPr>
          <a:xfrm>
            <a:off x="736600" y="5918200"/>
            <a:ext cx="8255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CBD8E6"/>
                </a:solidFill>
                <a:latin typeface="Aptos" panose="020B0004020202020204" pitchFamily="34" charset="0"/>
              </a:rPr>
              <a:t>Olaleye Adeniyi Akinuli  ·  Chiemerie Cletus Obijiaku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E7592-AF87-131D-5AE4-3173DF0AF545}"/>
              </a:ext>
            </a:extLst>
          </p:cNvPr>
          <p:cNvSpPr txBox="1"/>
          <p:nvPr/>
        </p:nvSpPr>
        <p:spPr>
          <a:xfrm>
            <a:off x="10845800" y="6019800"/>
            <a:ext cx="6096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2552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77E340-7A9C-88A1-8CDB-30DB484EF534}"/>
              </a:ext>
            </a:extLst>
          </p:cNvPr>
          <p:cNvSpPr txBox="1"/>
          <p:nvPr/>
        </p:nvSpPr>
        <p:spPr>
          <a:xfrm>
            <a:off x="584200" y="304800"/>
            <a:ext cx="9652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8E5B8-F42D-AFB7-8746-8FCFEA602B26}"/>
              </a:ext>
            </a:extLst>
          </p:cNvPr>
          <p:cNvSpPr txBox="1"/>
          <p:nvPr/>
        </p:nvSpPr>
        <p:spPr>
          <a:xfrm>
            <a:off x="584200" y="622300"/>
            <a:ext cx="104140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900" b="1">
                <a:solidFill>
                  <a:srgbClr val="0F1F36"/>
                </a:solidFill>
                <a:latin typeface="Aptos Display" panose="020B0004020202020204" pitchFamily="34" charset="0"/>
              </a:rPr>
              <a:t>A controlled comparison on one frozen baseline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A86B0-F178-D28A-388B-C2ECF9325BED}"/>
              </a:ext>
            </a:extLst>
          </p:cNvPr>
          <p:cNvSpPr txBox="1"/>
          <p:nvPr/>
        </p:nvSpPr>
        <p:spPr>
          <a:xfrm>
            <a:off x="11150600" y="342900"/>
            <a:ext cx="444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677482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EFC153-16BD-6B2F-E4D9-ED4BD35C7589}"/>
              </a:ext>
            </a:extLst>
          </p:cNvPr>
          <p:cNvCxnSpPr/>
          <p:nvPr/>
        </p:nvCxnSpPr>
        <p:spPr>
          <a:xfrm>
            <a:off x="584200" y="1397000"/>
            <a:ext cx="11023600" cy="0"/>
          </a:xfrm>
          <a:prstGeom prst="line">
            <a:avLst/>
          </a:prstGeom>
          <a:ln w="12700">
            <a:solidFill>
              <a:srgbClr val="E2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F9E631-6B32-F439-CE5A-A8EB2B29759C}"/>
              </a:ext>
            </a:extLst>
          </p:cNvPr>
          <p:cNvSpPr/>
          <p:nvPr/>
        </p:nvSpPr>
        <p:spPr>
          <a:xfrm>
            <a:off x="584200" y="1841500"/>
            <a:ext cx="34798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281639-5E9A-F562-6402-B80AC410461F}"/>
              </a:ext>
            </a:extLst>
          </p:cNvPr>
          <p:cNvSpPr/>
          <p:nvPr/>
        </p:nvSpPr>
        <p:spPr>
          <a:xfrm>
            <a:off x="838200" y="2095500"/>
            <a:ext cx="495300" cy="4953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F59D3-9AC2-9E07-B1C2-CBAEF6E369B2}"/>
              </a:ext>
            </a:extLst>
          </p:cNvPr>
          <p:cNvSpPr txBox="1"/>
          <p:nvPr/>
        </p:nvSpPr>
        <p:spPr>
          <a:xfrm>
            <a:off x="838200" y="2781300"/>
            <a:ext cx="2971800" cy="3693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900" b="1">
                <a:solidFill>
                  <a:srgbClr val="0F1F36"/>
                </a:solidFill>
                <a:latin typeface="Aptos" panose="020B0004020202020204" pitchFamily="34" charset="0"/>
              </a:rPr>
              <a:t>Human-authored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D88CA-67AA-1F1D-89CB-B27782337E4F}"/>
              </a:ext>
            </a:extLst>
          </p:cNvPr>
          <p:cNvSpPr txBox="1"/>
          <p:nvPr/>
        </p:nvSpPr>
        <p:spPr>
          <a:xfrm>
            <a:off x="838200" y="3225800"/>
            <a:ext cx="2971800" cy="27699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300" b="1">
                <a:solidFill>
                  <a:srgbClr val="23A69A"/>
                </a:solidFill>
                <a:latin typeface="Aptos" panose="020B0004020202020204" pitchFamily="34" charset="0"/>
              </a:rPr>
              <a:t>20 pytest cases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DEA1A-5D22-E90F-F2CD-5B067102B641}"/>
              </a:ext>
            </a:extLst>
          </p:cNvPr>
          <p:cNvSpPr/>
          <p:nvPr/>
        </p:nvSpPr>
        <p:spPr>
          <a:xfrm>
            <a:off x="850900" y="3949700"/>
            <a:ext cx="76200" cy="762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FE28D-A9F5-909A-0E90-DF813806FC1E}"/>
              </a:ext>
            </a:extLst>
          </p:cNvPr>
          <p:cNvSpPr txBox="1"/>
          <p:nvPr/>
        </p:nvSpPr>
        <p:spPr>
          <a:xfrm>
            <a:off x="1054100" y="38735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Database-state oracles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AC4A96-CDED-5AB3-F5DA-03D5011E4834}"/>
              </a:ext>
            </a:extLst>
          </p:cNvPr>
          <p:cNvSpPr/>
          <p:nvPr/>
        </p:nvSpPr>
        <p:spPr>
          <a:xfrm>
            <a:off x="850900" y="4483100"/>
            <a:ext cx="76200" cy="762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3A79C-8B16-2252-FC11-B9AD3058AE60}"/>
              </a:ext>
            </a:extLst>
          </p:cNvPr>
          <p:cNvSpPr txBox="1"/>
          <p:nvPr/>
        </p:nvSpPr>
        <p:spPr>
          <a:xfrm>
            <a:off x="1054100" y="44069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Ownership and rollback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3F06F1-1577-796D-E599-BD188555DEDE}"/>
              </a:ext>
            </a:extLst>
          </p:cNvPr>
          <p:cNvSpPr/>
          <p:nvPr/>
        </p:nvSpPr>
        <p:spPr>
          <a:xfrm>
            <a:off x="850900" y="5016500"/>
            <a:ext cx="76200" cy="762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000E8C-DFD9-1B9F-6BDD-23642779707B}"/>
              </a:ext>
            </a:extLst>
          </p:cNvPr>
          <p:cNvSpPr txBox="1"/>
          <p:nvPr/>
        </p:nvSpPr>
        <p:spPr>
          <a:xfrm>
            <a:off x="1054100" y="49403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Deterministic execution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DF4FA3-3CBE-8D6A-C515-1CEE83956613}"/>
              </a:ext>
            </a:extLst>
          </p:cNvPr>
          <p:cNvSpPr/>
          <p:nvPr/>
        </p:nvSpPr>
        <p:spPr>
          <a:xfrm>
            <a:off x="4356100" y="1841500"/>
            <a:ext cx="34798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7C1E373-9DFE-A406-6C2D-0AB0CA3626A6}"/>
              </a:ext>
            </a:extLst>
          </p:cNvPr>
          <p:cNvSpPr/>
          <p:nvPr/>
        </p:nvSpPr>
        <p:spPr>
          <a:xfrm>
            <a:off x="4610100" y="2095500"/>
            <a:ext cx="495300" cy="4953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611540-882D-CA78-A3C0-3EEA9CBCE719}"/>
              </a:ext>
            </a:extLst>
          </p:cNvPr>
          <p:cNvSpPr txBox="1"/>
          <p:nvPr/>
        </p:nvSpPr>
        <p:spPr>
          <a:xfrm>
            <a:off x="4610100" y="2781300"/>
            <a:ext cx="2971800" cy="3693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900" b="1">
                <a:solidFill>
                  <a:srgbClr val="0F1F36"/>
                </a:solidFill>
                <a:latin typeface="Aptos" panose="020B0004020202020204" pitchFamily="34" charset="0"/>
              </a:rPr>
              <a:t>Schema-driven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A44F90-E31B-7E07-1D01-80DFFB2E4048}"/>
              </a:ext>
            </a:extLst>
          </p:cNvPr>
          <p:cNvSpPr txBox="1"/>
          <p:nvPr/>
        </p:nvSpPr>
        <p:spPr>
          <a:xfrm>
            <a:off x="4610100" y="3225800"/>
            <a:ext cx="2971800" cy="27699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300" b="1">
                <a:solidFill>
                  <a:srgbClr val="EF8B3D"/>
                </a:solidFill>
                <a:latin typeface="Aptos" panose="020B0004020202020204" pitchFamily="34" charset="0"/>
              </a:rPr>
              <a:t>3,252 generated cases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D921A1-D21B-8078-0064-7560CAEA3ABC}"/>
              </a:ext>
            </a:extLst>
          </p:cNvPr>
          <p:cNvSpPr/>
          <p:nvPr/>
        </p:nvSpPr>
        <p:spPr>
          <a:xfrm>
            <a:off x="4622800" y="3949700"/>
            <a:ext cx="76200" cy="762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190C0F-8888-4FC7-16A8-8B79CB79C981}"/>
              </a:ext>
            </a:extLst>
          </p:cNvPr>
          <p:cNvSpPr txBox="1"/>
          <p:nvPr/>
        </p:nvSpPr>
        <p:spPr>
          <a:xfrm>
            <a:off x="4826000" y="38735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Three fixed seeds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3F2C48-7BB1-DC39-70CB-9B5D9C5E3888}"/>
              </a:ext>
            </a:extLst>
          </p:cNvPr>
          <p:cNvSpPr/>
          <p:nvPr/>
        </p:nvSpPr>
        <p:spPr>
          <a:xfrm>
            <a:off x="4622800" y="4483100"/>
            <a:ext cx="76200" cy="762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928772-5249-1B07-130D-FF67AAB3849D}"/>
              </a:ext>
            </a:extLst>
          </p:cNvPr>
          <p:cNvSpPr txBox="1"/>
          <p:nvPr/>
        </p:nvSpPr>
        <p:spPr>
          <a:xfrm>
            <a:off x="4826000" y="44069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OpenAPI 3.0.3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8346CC-E695-08CC-94C1-5991729C215E}"/>
              </a:ext>
            </a:extLst>
          </p:cNvPr>
          <p:cNvSpPr/>
          <p:nvPr/>
        </p:nvSpPr>
        <p:spPr>
          <a:xfrm>
            <a:off x="4622800" y="5016500"/>
            <a:ext cx="76200" cy="762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1A8EE4-BD12-7F44-087E-F5F5BD5F5030}"/>
              </a:ext>
            </a:extLst>
          </p:cNvPr>
          <p:cNvSpPr txBox="1"/>
          <p:nvPr/>
        </p:nvSpPr>
        <p:spPr>
          <a:xfrm>
            <a:off x="4826000" y="49403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Per-case state reset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144814-74D8-E815-413E-9E268F7792DE}"/>
              </a:ext>
            </a:extLst>
          </p:cNvPr>
          <p:cNvSpPr/>
          <p:nvPr/>
        </p:nvSpPr>
        <p:spPr>
          <a:xfrm>
            <a:off x="8128000" y="1841500"/>
            <a:ext cx="34798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ACDE573-79AE-8D57-7E1F-95CC07271984}"/>
              </a:ext>
            </a:extLst>
          </p:cNvPr>
          <p:cNvSpPr/>
          <p:nvPr/>
        </p:nvSpPr>
        <p:spPr>
          <a:xfrm>
            <a:off x="8382000" y="2095500"/>
            <a:ext cx="495300" cy="495300"/>
          </a:xfrm>
          <a:prstGeom prst="ellipse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07FC86-F099-6225-ECF1-8CF89258B623}"/>
              </a:ext>
            </a:extLst>
          </p:cNvPr>
          <p:cNvSpPr txBox="1"/>
          <p:nvPr/>
        </p:nvSpPr>
        <p:spPr>
          <a:xfrm>
            <a:off x="8382000" y="2781300"/>
            <a:ext cx="2971800" cy="3693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900" b="1">
                <a:solidFill>
                  <a:srgbClr val="0F1F36"/>
                </a:solidFill>
                <a:latin typeface="Aptos" panose="020B0004020202020204" pitchFamily="34" charset="0"/>
              </a:rPr>
              <a:t>Exploratory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D7AC60-81A5-814D-2EFA-388B24476AFA}"/>
              </a:ext>
            </a:extLst>
          </p:cNvPr>
          <p:cNvSpPr txBox="1"/>
          <p:nvPr/>
        </p:nvSpPr>
        <p:spPr>
          <a:xfrm>
            <a:off x="8382000" y="3225800"/>
            <a:ext cx="2971800" cy="27699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300" b="1">
                <a:solidFill>
                  <a:srgbClr val="19304D"/>
                </a:solidFill>
                <a:latin typeface="Aptos" panose="020B0004020202020204" pitchFamily="34" charset="0"/>
              </a:rPr>
              <a:t>Two 90-minute sessions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A4FE411-912F-FCA9-8D64-15FE08D6FB4A}"/>
              </a:ext>
            </a:extLst>
          </p:cNvPr>
          <p:cNvSpPr/>
          <p:nvPr/>
        </p:nvSpPr>
        <p:spPr>
          <a:xfrm>
            <a:off x="8394700" y="3949700"/>
            <a:ext cx="76200" cy="76200"/>
          </a:xfrm>
          <a:prstGeom prst="ellipse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AB5E18-4A3B-B083-F958-4B0DAE14E9E5}"/>
              </a:ext>
            </a:extLst>
          </p:cNvPr>
          <p:cNvSpPr txBox="1"/>
          <p:nvPr/>
        </p:nvSpPr>
        <p:spPr>
          <a:xfrm>
            <a:off x="8597900" y="38735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Chartered journeys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D466B3-66E5-4BBF-BF23-4E1C502C532C}"/>
              </a:ext>
            </a:extLst>
          </p:cNvPr>
          <p:cNvSpPr/>
          <p:nvPr/>
        </p:nvSpPr>
        <p:spPr>
          <a:xfrm>
            <a:off x="8394700" y="4483100"/>
            <a:ext cx="76200" cy="76200"/>
          </a:xfrm>
          <a:prstGeom prst="ellipse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600A9F-364F-F012-46E3-FA117BBB67D3}"/>
              </a:ext>
            </a:extLst>
          </p:cNvPr>
          <p:cNvSpPr txBox="1"/>
          <p:nvPr/>
        </p:nvSpPr>
        <p:spPr>
          <a:xfrm>
            <a:off x="8597900" y="44069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Journals and debriefs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242F132-7670-FD2F-DB5E-2CB7F80711BB}"/>
              </a:ext>
            </a:extLst>
          </p:cNvPr>
          <p:cNvSpPr/>
          <p:nvPr/>
        </p:nvSpPr>
        <p:spPr>
          <a:xfrm>
            <a:off x="8394700" y="5016500"/>
            <a:ext cx="76200" cy="76200"/>
          </a:xfrm>
          <a:prstGeom prst="ellipse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A1052F-EEEE-4271-1777-4D122209A52E}"/>
              </a:ext>
            </a:extLst>
          </p:cNvPr>
          <p:cNvSpPr txBox="1"/>
          <p:nvPr/>
        </p:nvSpPr>
        <p:spPr>
          <a:xfrm>
            <a:off x="8597900" y="4940300"/>
            <a:ext cx="26670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Reported separately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086F77-274C-3C9B-5D94-109980CF0887}"/>
              </a:ext>
            </a:extLst>
          </p:cNvPr>
          <p:cNvSpPr txBox="1"/>
          <p:nvPr/>
        </p:nvSpPr>
        <p:spPr>
          <a:xfrm>
            <a:off x="609600" y="5905500"/>
            <a:ext cx="10985500" cy="29238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400" b="1">
                <a:solidFill>
                  <a:srgbClr val="0F1F36"/>
                </a:solidFill>
                <a:latin typeface="Aptos" panose="020B0004020202020204" pitchFamily="34" charset="0"/>
              </a:rPr>
              <a:t>Fairness rule: count unique root causes—not requests, checks, or repeated symptoms [1], [2].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4E10B1-18F7-BA98-076D-EEB3AE3466B6}"/>
              </a:ext>
            </a:extLst>
          </p:cNvPr>
          <p:cNvSpPr txBox="1"/>
          <p:nvPr/>
        </p:nvSpPr>
        <p:spPr>
          <a:xfrm>
            <a:off x="584200" y="6553200"/>
            <a:ext cx="11023600" cy="20005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800">
                <a:solidFill>
                  <a:srgbClr val="677482"/>
                </a:solidFill>
                <a:latin typeface="Aptos" panose="020B0004020202020204" pitchFamily="34" charset="0"/>
              </a:rPr>
              <a:t>ENGI 9839 · Software Verification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54440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84E05-0B43-CD1E-47D9-0BC2B030E095}"/>
              </a:ext>
            </a:extLst>
          </p:cNvPr>
          <p:cNvSpPr txBox="1"/>
          <p:nvPr/>
        </p:nvSpPr>
        <p:spPr>
          <a:xfrm>
            <a:off x="584200" y="304800"/>
            <a:ext cx="9652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DCF60-0268-D549-E7C5-909D16AF3639}"/>
              </a:ext>
            </a:extLst>
          </p:cNvPr>
          <p:cNvSpPr txBox="1"/>
          <p:nvPr/>
        </p:nvSpPr>
        <p:spPr>
          <a:xfrm>
            <a:off x="584200" y="622300"/>
            <a:ext cx="104140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900" b="1">
                <a:solidFill>
                  <a:srgbClr val="0F1F36"/>
                </a:solidFill>
                <a:latin typeface="Aptos Display" panose="020B0004020202020204" pitchFamily="34" charset="0"/>
              </a:rPr>
              <a:t>Generated volume did not translate into more root causes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6CDED-A15F-6C75-C9E2-C20797685316}"/>
              </a:ext>
            </a:extLst>
          </p:cNvPr>
          <p:cNvSpPr txBox="1"/>
          <p:nvPr/>
        </p:nvSpPr>
        <p:spPr>
          <a:xfrm>
            <a:off x="11150600" y="342900"/>
            <a:ext cx="444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677482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F2CB4E-8FB0-8522-DCC0-35C06168046E}"/>
              </a:ext>
            </a:extLst>
          </p:cNvPr>
          <p:cNvCxnSpPr/>
          <p:nvPr/>
        </p:nvCxnSpPr>
        <p:spPr>
          <a:xfrm>
            <a:off x="584200" y="1397000"/>
            <a:ext cx="11023600" cy="0"/>
          </a:xfrm>
          <a:prstGeom prst="line">
            <a:avLst/>
          </a:prstGeom>
          <a:ln w="12700">
            <a:solidFill>
              <a:srgbClr val="E2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B9458F-8CD5-1972-E8E9-17D6B5F3EE36}"/>
              </a:ext>
            </a:extLst>
          </p:cNvPr>
          <p:cNvSpPr/>
          <p:nvPr/>
        </p:nvSpPr>
        <p:spPr>
          <a:xfrm>
            <a:off x="584200" y="1841500"/>
            <a:ext cx="3200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073F17-9211-CAFF-A769-E8EFFFFAAFFB}"/>
              </a:ext>
            </a:extLst>
          </p:cNvPr>
          <p:cNvSpPr/>
          <p:nvPr/>
        </p:nvSpPr>
        <p:spPr>
          <a:xfrm>
            <a:off x="584200" y="1841500"/>
            <a:ext cx="88900" cy="1498600"/>
          </a:xfrm>
          <a:prstGeom prst="roundRect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14F36-F3BA-F185-ED6B-D89EFCE09EF5}"/>
              </a:ext>
            </a:extLst>
          </p:cNvPr>
          <p:cNvSpPr txBox="1"/>
          <p:nvPr/>
        </p:nvSpPr>
        <p:spPr>
          <a:xfrm>
            <a:off x="850900" y="2044700"/>
            <a:ext cx="27940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B982A-286D-E958-1ED8-4EE22F8C9546}"/>
              </a:ext>
            </a:extLst>
          </p:cNvPr>
          <p:cNvSpPr txBox="1"/>
          <p:nvPr/>
        </p:nvSpPr>
        <p:spPr>
          <a:xfrm>
            <a:off x="850900" y="2692400"/>
            <a:ext cx="2794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Human-authored cases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E997E2-6185-90C0-D4B1-2F5F03D3E836}"/>
              </a:ext>
            </a:extLst>
          </p:cNvPr>
          <p:cNvSpPr/>
          <p:nvPr/>
        </p:nvSpPr>
        <p:spPr>
          <a:xfrm>
            <a:off x="4495800" y="1841500"/>
            <a:ext cx="3200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384A06-AD92-00EC-1CA1-C725079339D8}"/>
              </a:ext>
            </a:extLst>
          </p:cNvPr>
          <p:cNvSpPr/>
          <p:nvPr/>
        </p:nvSpPr>
        <p:spPr>
          <a:xfrm>
            <a:off x="4495800" y="1841500"/>
            <a:ext cx="88900" cy="1498600"/>
          </a:xfrm>
          <a:prstGeom prst="roundRect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376BE-ADA6-F638-4FC7-13622BA97BC9}"/>
              </a:ext>
            </a:extLst>
          </p:cNvPr>
          <p:cNvSpPr txBox="1"/>
          <p:nvPr/>
        </p:nvSpPr>
        <p:spPr>
          <a:xfrm>
            <a:off x="4762500" y="2044700"/>
            <a:ext cx="27940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3,252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7EE4F-6E28-C782-E9A5-3607A192ABE0}"/>
              </a:ext>
            </a:extLst>
          </p:cNvPr>
          <p:cNvSpPr txBox="1"/>
          <p:nvPr/>
        </p:nvSpPr>
        <p:spPr>
          <a:xfrm>
            <a:off x="4762500" y="2692400"/>
            <a:ext cx="2794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Schemathesis cases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56AF8E-85CE-3E82-ABB5-D9BE38114185}"/>
              </a:ext>
            </a:extLst>
          </p:cNvPr>
          <p:cNvSpPr/>
          <p:nvPr/>
        </p:nvSpPr>
        <p:spPr>
          <a:xfrm>
            <a:off x="8407400" y="1841500"/>
            <a:ext cx="3200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C87670-4D43-7712-72EE-BA32582209C0}"/>
              </a:ext>
            </a:extLst>
          </p:cNvPr>
          <p:cNvSpPr/>
          <p:nvPr/>
        </p:nvSpPr>
        <p:spPr>
          <a:xfrm>
            <a:off x="8407400" y="1841500"/>
            <a:ext cx="88900" cy="1498600"/>
          </a:xfrm>
          <a:prstGeom prst="roundRect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E40BDE-F2FB-1C6A-9B54-FE0D0A0855E3}"/>
              </a:ext>
            </a:extLst>
          </p:cNvPr>
          <p:cNvSpPr txBox="1"/>
          <p:nvPr/>
        </p:nvSpPr>
        <p:spPr>
          <a:xfrm>
            <a:off x="8674100" y="2044700"/>
            <a:ext cx="27940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0 /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BEB209-7F8B-9AD7-4339-AEB78FBDAF46}"/>
              </a:ext>
            </a:extLst>
          </p:cNvPr>
          <p:cNvSpPr txBox="1"/>
          <p:nvPr/>
        </p:nvSpPr>
        <p:spPr>
          <a:xfrm>
            <a:off x="8674100" y="2692400"/>
            <a:ext cx="2794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Novel roots: manual / fuzzing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40DA73-4E0E-AB75-0294-33B07BB8CE5A}"/>
              </a:ext>
            </a:extLst>
          </p:cNvPr>
          <p:cNvSpPr/>
          <p:nvPr/>
        </p:nvSpPr>
        <p:spPr>
          <a:xfrm>
            <a:off x="584200" y="3695700"/>
            <a:ext cx="11023600" cy="220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ABFA85-3583-2440-3AA7-B6E736F6BE0B}"/>
              </a:ext>
            </a:extLst>
          </p:cNvPr>
          <p:cNvSpPr txBox="1"/>
          <p:nvPr/>
        </p:nvSpPr>
        <p:spPr>
          <a:xfrm>
            <a:off x="876300" y="3911600"/>
            <a:ext cx="2413000" cy="2308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000" b="1">
                <a:solidFill>
                  <a:srgbClr val="677482"/>
                </a:solidFill>
                <a:latin typeface="Aptos" panose="020B0004020202020204" pitchFamily="34" charset="0"/>
              </a:rPr>
              <a:t>COMPARABLE OUTCOME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1F9E9-1404-79DC-E775-4BD2B31F9237}"/>
              </a:ext>
            </a:extLst>
          </p:cNvPr>
          <p:cNvSpPr txBox="1"/>
          <p:nvPr/>
        </p:nvSpPr>
        <p:spPr>
          <a:xfrm>
            <a:off x="876300" y="4356100"/>
            <a:ext cx="3746500" cy="4616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500" b="1">
                <a:solidFill>
                  <a:srgbClr val="23A69A"/>
                </a:solidFill>
                <a:latin typeface="Aptos Display" panose="020B0004020202020204" pitchFamily="34" charset="0"/>
              </a:rPr>
              <a:t>8 known root causes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915CD3-3EF6-7532-6B44-8875FF464931}"/>
              </a:ext>
            </a:extLst>
          </p:cNvPr>
          <p:cNvSpPr txBox="1"/>
          <p:nvPr/>
        </p:nvSpPr>
        <p:spPr>
          <a:xfrm>
            <a:off x="876300" y="4953000"/>
            <a:ext cx="3746500" cy="27699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300">
                <a:solidFill>
                  <a:srgbClr val="677482"/>
                </a:solidFill>
                <a:latin typeface="Aptos" panose="020B0004020202020204" pitchFamily="34" charset="0"/>
              </a:rPr>
              <a:t>reproduced by the targeted suite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A62B27-87EF-3B0C-5736-C6697D4F3CFE}"/>
              </a:ext>
            </a:extLst>
          </p:cNvPr>
          <p:cNvSpPr txBox="1"/>
          <p:nvPr/>
        </p:nvSpPr>
        <p:spPr>
          <a:xfrm>
            <a:off x="5588000" y="4356100"/>
            <a:ext cx="3175000" cy="4616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500" b="1">
                <a:solidFill>
                  <a:srgbClr val="EF8B3D"/>
                </a:solidFill>
                <a:latin typeface="Aptos Display" panose="020B0004020202020204" pitchFamily="34" charset="0"/>
              </a:rPr>
              <a:t>3 known root causes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669491-85DC-C567-36A3-54FFA3ED7E77}"/>
              </a:ext>
            </a:extLst>
          </p:cNvPr>
          <p:cNvSpPr txBox="1"/>
          <p:nvPr/>
        </p:nvSpPr>
        <p:spPr>
          <a:xfrm>
            <a:off x="5588000" y="4953000"/>
            <a:ext cx="3175000" cy="27699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300">
                <a:solidFill>
                  <a:srgbClr val="677482"/>
                </a:solidFill>
                <a:latin typeface="Aptos" panose="020B0004020202020204" pitchFamily="34" charset="0"/>
              </a:rPr>
              <a:t>reproduced by Schemathesis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E34E7ED-B32A-8161-47FA-920B830AB5C4}"/>
              </a:ext>
            </a:extLst>
          </p:cNvPr>
          <p:cNvSpPr/>
          <p:nvPr/>
        </p:nvSpPr>
        <p:spPr>
          <a:xfrm>
            <a:off x="9245600" y="4064000"/>
            <a:ext cx="1968500" cy="1422400"/>
          </a:xfrm>
          <a:prstGeom prst="roundRect">
            <a:avLst/>
          </a:prstGeom>
          <a:solidFill>
            <a:srgbClr val="0F1F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649A44-7602-C8FD-E874-CAE9944B0BDC}"/>
              </a:ext>
            </a:extLst>
          </p:cNvPr>
          <p:cNvSpPr txBox="1"/>
          <p:nvPr/>
        </p:nvSpPr>
        <p:spPr>
          <a:xfrm>
            <a:off x="9423400" y="4254500"/>
            <a:ext cx="1612900" cy="492443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Aptos Display" panose="020B0004020202020204" pitchFamily="34" charset="0"/>
              </a:rPr>
              <a:t>64.5%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A79B84-6C43-5007-CF86-74161FE7DED3}"/>
              </a:ext>
            </a:extLst>
          </p:cNvPr>
          <p:cNvSpPr txBox="1"/>
          <p:nvPr/>
        </p:nvSpPr>
        <p:spPr>
          <a:xfrm>
            <a:off x="9423400" y="4737100"/>
            <a:ext cx="1612900" cy="41549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100">
                <a:solidFill>
                  <a:srgbClr val="CBD8E6"/>
                </a:solidFill>
                <a:latin typeface="Aptos" panose="020B0004020202020204" pitchFamily="34" charset="0"/>
              </a:rPr>
              <a:t>manual comparable
coverage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31C3AF-47DD-8E16-215A-A712F7EDDDA3}"/>
              </a:ext>
            </a:extLst>
          </p:cNvPr>
          <p:cNvSpPr txBox="1"/>
          <p:nvPr/>
        </p:nvSpPr>
        <p:spPr>
          <a:xfrm>
            <a:off x="609600" y="6070600"/>
            <a:ext cx="109855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Duration: 2.88 s test time (8.769 s runner) vs. 552.58 s fuzzing.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D71D49-32B8-69A0-DBA5-E91B9E89FDDC}"/>
              </a:ext>
            </a:extLst>
          </p:cNvPr>
          <p:cNvSpPr txBox="1"/>
          <p:nvPr/>
        </p:nvSpPr>
        <p:spPr>
          <a:xfrm>
            <a:off x="584200" y="6553200"/>
            <a:ext cx="11023600" cy="20005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800">
                <a:solidFill>
                  <a:srgbClr val="677482"/>
                </a:solidFill>
                <a:latin typeface="Aptos" panose="020B0004020202020204" pitchFamily="34" charset="0"/>
              </a:rPr>
              <a:t>ENGI 9839 · Software Verification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45599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23953-FBFD-A30D-6229-B868A4001F8B}"/>
              </a:ext>
            </a:extLst>
          </p:cNvPr>
          <p:cNvSpPr txBox="1"/>
          <p:nvPr/>
        </p:nvSpPr>
        <p:spPr>
          <a:xfrm>
            <a:off x="584200" y="304800"/>
            <a:ext cx="9652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34F8E-7657-46EF-3C7E-046C044E9AB6}"/>
              </a:ext>
            </a:extLst>
          </p:cNvPr>
          <p:cNvSpPr txBox="1"/>
          <p:nvPr/>
        </p:nvSpPr>
        <p:spPr>
          <a:xfrm>
            <a:off x="584200" y="622300"/>
            <a:ext cx="104140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900" b="1">
                <a:solidFill>
                  <a:srgbClr val="0F1F36"/>
                </a:solidFill>
                <a:latin typeface="Aptos Display" panose="020B0004020202020204" pitchFamily="34" charset="0"/>
              </a:rPr>
              <a:t>The techniques observed different kinds of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04884-D984-58D7-DA3C-CB183002730E}"/>
              </a:ext>
            </a:extLst>
          </p:cNvPr>
          <p:cNvSpPr txBox="1"/>
          <p:nvPr/>
        </p:nvSpPr>
        <p:spPr>
          <a:xfrm>
            <a:off x="11150600" y="342900"/>
            <a:ext cx="444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677482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1F8AC0-6E88-37F4-728B-B908A4AFD170}"/>
              </a:ext>
            </a:extLst>
          </p:cNvPr>
          <p:cNvCxnSpPr/>
          <p:nvPr/>
        </p:nvCxnSpPr>
        <p:spPr>
          <a:xfrm>
            <a:off x="584200" y="1397000"/>
            <a:ext cx="11023600" cy="0"/>
          </a:xfrm>
          <a:prstGeom prst="line">
            <a:avLst/>
          </a:prstGeom>
          <a:ln w="12700">
            <a:solidFill>
              <a:srgbClr val="E2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355D1A-FCDF-5379-363E-5CD24BE44F58}"/>
              </a:ext>
            </a:extLst>
          </p:cNvPr>
          <p:cNvSpPr/>
          <p:nvPr/>
        </p:nvSpPr>
        <p:spPr>
          <a:xfrm>
            <a:off x="584200" y="1841500"/>
            <a:ext cx="52578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3EF989-FEAC-FC71-B199-550D03D4E0E8}"/>
              </a:ext>
            </a:extLst>
          </p:cNvPr>
          <p:cNvSpPr/>
          <p:nvPr/>
        </p:nvSpPr>
        <p:spPr>
          <a:xfrm>
            <a:off x="6350000" y="1841500"/>
            <a:ext cx="52578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7BCDD7-2579-942E-F611-1FDE929D667F}"/>
              </a:ext>
            </a:extLst>
          </p:cNvPr>
          <p:cNvSpPr/>
          <p:nvPr/>
        </p:nvSpPr>
        <p:spPr>
          <a:xfrm>
            <a:off x="584200" y="1841500"/>
            <a:ext cx="5257800" cy="127000"/>
          </a:xfrm>
          <a:prstGeom prst="roundRect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5736E4-BC6E-1AD3-48A5-6AD0E0AFC5B0}"/>
              </a:ext>
            </a:extLst>
          </p:cNvPr>
          <p:cNvSpPr/>
          <p:nvPr/>
        </p:nvSpPr>
        <p:spPr>
          <a:xfrm>
            <a:off x="6350000" y="1841500"/>
            <a:ext cx="5257800" cy="127000"/>
          </a:xfrm>
          <a:prstGeom prst="roundRect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122DA-EA36-5F49-073B-D3E536BEB748}"/>
              </a:ext>
            </a:extLst>
          </p:cNvPr>
          <p:cNvSpPr txBox="1"/>
          <p:nvPr/>
        </p:nvSpPr>
        <p:spPr>
          <a:xfrm>
            <a:off x="889000" y="2209800"/>
            <a:ext cx="4508500" cy="3847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000" b="1">
                <a:solidFill>
                  <a:srgbClr val="0F1F36"/>
                </a:solidFill>
                <a:latin typeface="Aptos" panose="020B0004020202020204" pitchFamily="34" charset="0"/>
              </a:rPr>
              <a:t>Human-authored strengths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369A95-B110-CCFF-EDA9-6BEA3456263A}"/>
              </a:ext>
            </a:extLst>
          </p:cNvPr>
          <p:cNvSpPr/>
          <p:nvPr/>
        </p:nvSpPr>
        <p:spPr>
          <a:xfrm>
            <a:off x="914400" y="29210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5B7BFA-07DC-33D2-7BC2-1EB0A58FFF60}"/>
              </a:ext>
            </a:extLst>
          </p:cNvPr>
          <p:cNvSpPr txBox="1"/>
          <p:nvPr/>
        </p:nvSpPr>
        <p:spPr>
          <a:xfrm>
            <a:off x="1143000" y="28448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Cross-user ownership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43A3D5-849C-E8E7-4F16-D16F256A422A}"/>
              </a:ext>
            </a:extLst>
          </p:cNvPr>
          <p:cNvSpPr/>
          <p:nvPr/>
        </p:nvSpPr>
        <p:spPr>
          <a:xfrm>
            <a:off x="914400" y="35814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A7E57-FF85-C2AF-593E-E74318B7FC61}"/>
              </a:ext>
            </a:extLst>
          </p:cNvPr>
          <p:cNvSpPr txBox="1"/>
          <p:nvPr/>
        </p:nvSpPr>
        <p:spPr>
          <a:xfrm>
            <a:off x="1143000" y="35052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State mutation after rejection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D39F77-B464-9E68-E5DF-C982A3C8B523}"/>
              </a:ext>
            </a:extLst>
          </p:cNvPr>
          <p:cNvSpPr/>
          <p:nvPr/>
        </p:nvSpPr>
        <p:spPr>
          <a:xfrm>
            <a:off x="914400" y="42418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73843-D942-8FDD-86FD-6D8AEAB17AD3}"/>
              </a:ext>
            </a:extLst>
          </p:cNvPr>
          <p:cNvSpPr txBox="1"/>
          <p:nvPr/>
        </p:nvSpPr>
        <p:spPr>
          <a:xfrm>
            <a:off x="1143000" y="41656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Missing persistence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190DC6-7B82-4F7B-C1DF-E2FAD486FED6}"/>
              </a:ext>
            </a:extLst>
          </p:cNvPr>
          <p:cNvSpPr/>
          <p:nvPr/>
        </p:nvSpPr>
        <p:spPr>
          <a:xfrm>
            <a:off x="914400" y="49022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A8CBE-9926-1216-5AF9-6662B98C3C8A}"/>
              </a:ext>
            </a:extLst>
          </p:cNvPr>
          <p:cNvSpPr txBox="1"/>
          <p:nvPr/>
        </p:nvSpPr>
        <p:spPr>
          <a:xfrm>
            <a:off x="1143000" y="48260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Transaction rollback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40E7DB-42C5-B1D9-0581-2B85B8F58D3D}"/>
              </a:ext>
            </a:extLst>
          </p:cNvPr>
          <p:cNvSpPr txBox="1"/>
          <p:nvPr/>
        </p:nvSpPr>
        <p:spPr>
          <a:xfrm>
            <a:off x="889000" y="5207000"/>
            <a:ext cx="4508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ROOTS: K-001 to K-007, K-009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7D72C2-AA1B-3B56-9AE5-0B88592B02FA}"/>
              </a:ext>
            </a:extLst>
          </p:cNvPr>
          <p:cNvSpPr txBox="1"/>
          <p:nvPr/>
        </p:nvSpPr>
        <p:spPr>
          <a:xfrm>
            <a:off x="6654800" y="2209800"/>
            <a:ext cx="4508500" cy="3847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000" b="1">
                <a:solidFill>
                  <a:srgbClr val="0F1F36"/>
                </a:solidFill>
                <a:latin typeface="Aptos" panose="020B0004020202020204" pitchFamily="34" charset="0"/>
              </a:rPr>
              <a:t>Schemathesis strengths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8651EC-8EE0-576C-A9DF-61746A9CF917}"/>
              </a:ext>
            </a:extLst>
          </p:cNvPr>
          <p:cNvSpPr/>
          <p:nvPr/>
        </p:nvSpPr>
        <p:spPr>
          <a:xfrm>
            <a:off x="6680200" y="2921000"/>
            <a:ext cx="88900" cy="889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AABE4-0414-323C-ABE3-68F2BCD1362B}"/>
              </a:ext>
            </a:extLst>
          </p:cNvPr>
          <p:cNvSpPr txBox="1"/>
          <p:nvPr/>
        </p:nvSpPr>
        <p:spPr>
          <a:xfrm>
            <a:off x="6908800" y="28448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High-volume malformed input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23CC4B-6F74-637A-913D-361153A2A6A6}"/>
              </a:ext>
            </a:extLst>
          </p:cNvPr>
          <p:cNvSpPr/>
          <p:nvPr/>
        </p:nvSpPr>
        <p:spPr>
          <a:xfrm>
            <a:off x="6680200" y="3581400"/>
            <a:ext cx="88900" cy="889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4C629E-A788-2B9E-4B2D-4D3D906FE4D8}"/>
              </a:ext>
            </a:extLst>
          </p:cNvPr>
          <p:cNvSpPr txBox="1"/>
          <p:nvPr/>
        </p:nvSpPr>
        <p:spPr>
          <a:xfrm>
            <a:off x="6908800" y="35052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Repeatability across seeds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B45508-A260-FDDD-911F-506A96DA8E20}"/>
              </a:ext>
            </a:extLst>
          </p:cNvPr>
          <p:cNvSpPr/>
          <p:nvPr/>
        </p:nvSpPr>
        <p:spPr>
          <a:xfrm>
            <a:off x="6680200" y="4241800"/>
            <a:ext cx="88900" cy="889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B1D972-C50D-1E05-EBF3-3A9B2DCE3A55}"/>
              </a:ext>
            </a:extLst>
          </p:cNvPr>
          <p:cNvSpPr txBox="1"/>
          <p:nvPr/>
        </p:nvSpPr>
        <p:spPr>
          <a:xfrm>
            <a:off x="6908800" y="41656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Contract and status violations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91B2AB-FD9E-65F3-A3B6-0EB4A8C7216A}"/>
              </a:ext>
            </a:extLst>
          </p:cNvPr>
          <p:cNvSpPr/>
          <p:nvPr/>
        </p:nvSpPr>
        <p:spPr>
          <a:xfrm>
            <a:off x="6680200" y="4902200"/>
            <a:ext cx="88900" cy="889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E55ED5-4CE2-C3C1-4572-D4889A806FE5}"/>
              </a:ext>
            </a:extLst>
          </p:cNvPr>
          <p:cNvSpPr txBox="1"/>
          <p:nvPr/>
        </p:nvSpPr>
        <p:spPr>
          <a:xfrm>
            <a:off x="6908800" y="4826000"/>
            <a:ext cx="4216400" cy="3231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600">
                <a:solidFill>
                  <a:srgbClr val="222D39"/>
                </a:solidFill>
                <a:latin typeface="Aptos" panose="020B0004020202020204" pitchFamily="34" charset="0"/>
              </a:rPr>
              <a:t>Broad input-space exploration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33ECAF-D5C1-CDE8-2DF9-6660E8511329}"/>
              </a:ext>
            </a:extLst>
          </p:cNvPr>
          <p:cNvSpPr txBox="1"/>
          <p:nvPr/>
        </p:nvSpPr>
        <p:spPr>
          <a:xfrm>
            <a:off x="6654800" y="5207000"/>
            <a:ext cx="4508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EF8B3D"/>
                </a:solidFill>
                <a:latin typeface="Aptos" panose="020B0004020202020204" pitchFamily="34" charset="0"/>
              </a:rPr>
              <a:t>ROOTS: K-002, K-004, K-009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398A8AC-5B68-7617-0131-707BB5FEBA7A}"/>
              </a:ext>
            </a:extLst>
          </p:cNvPr>
          <p:cNvSpPr/>
          <p:nvPr/>
        </p:nvSpPr>
        <p:spPr>
          <a:xfrm>
            <a:off x="584200" y="5854700"/>
            <a:ext cx="11023600" cy="495300"/>
          </a:xfrm>
          <a:prstGeom prst="roundRect">
            <a:avLst/>
          </a:prstGeom>
          <a:solidFill>
            <a:srgbClr val="0F1F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533A24-625F-D3BA-4397-DBE4E9C4583D}"/>
              </a:ext>
            </a:extLst>
          </p:cNvPr>
          <p:cNvSpPr txBox="1"/>
          <p:nvPr/>
        </p:nvSpPr>
        <p:spPr>
          <a:xfrm>
            <a:off x="787400" y="5956300"/>
            <a:ext cx="10617200" cy="27699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Generated volume ≠ defect count [2]    ·    Coverage supports—not proves—effectiveness [5]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D9E8E1-4A41-9F23-DB3B-0D112F2C7AA8}"/>
              </a:ext>
            </a:extLst>
          </p:cNvPr>
          <p:cNvSpPr txBox="1"/>
          <p:nvPr/>
        </p:nvSpPr>
        <p:spPr>
          <a:xfrm>
            <a:off x="584200" y="6553200"/>
            <a:ext cx="11023600" cy="20005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800">
                <a:solidFill>
                  <a:srgbClr val="677482"/>
                </a:solidFill>
                <a:latin typeface="Aptos" panose="020B0004020202020204" pitchFamily="34" charset="0"/>
              </a:rPr>
              <a:t>ENGI 9839 · Software Verification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80433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63F4-5F42-D53F-7D57-28CE02C1DE05}"/>
              </a:ext>
            </a:extLst>
          </p:cNvPr>
          <p:cNvSpPr txBox="1"/>
          <p:nvPr/>
        </p:nvSpPr>
        <p:spPr>
          <a:xfrm>
            <a:off x="584200" y="304800"/>
            <a:ext cx="9652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EXPLORATORY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AE446-C9F6-137A-FBDE-2500D1F53812}"/>
              </a:ext>
            </a:extLst>
          </p:cNvPr>
          <p:cNvSpPr txBox="1"/>
          <p:nvPr/>
        </p:nvSpPr>
        <p:spPr>
          <a:xfrm>
            <a:off x="584200" y="622300"/>
            <a:ext cx="104140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900" b="1">
                <a:solidFill>
                  <a:srgbClr val="0F1F36"/>
                </a:solidFill>
                <a:latin typeface="Aptos Display" panose="020B0004020202020204" pitchFamily="34" charset="0"/>
              </a:rPr>
              <a:t>The complete user journey exposed three additional root causes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E824D-BF52-FDC4-50AD-5C0EF140F6C8}"/>
              </a:ext>
            </a:extLst>
          </p:cNvPr>
          <p:cNvSpPr txBox="1"/>
          <p:nvPr/>
        </p:nvSpPr>
        <p:spPr>
          <a:xfrm>
            <a:off x="11150600" y="342900"/>
            <a:ext cx="444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677482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0D8F11-2D6C-48F5-BED5-1E523C61D00B}"/>
              </a:ext>
            </a:extLst>
          </p:cNvPr>
          <p:cNvCxnSpPr/>
          <p:nvPr/>
        </p:nvCxnSpPr>
        <p:spPr>
          <a:xfrm>
            <a:off x="584200" y="1397000"/>
            <a:ext cx="11023600" cy="0"/>
          </a:xfrm>
          <a:prstGeom prst="line">
            <a:avLst/>
          </a:prstGeom>
          <a:ln w="12700">
            <a:solidFill>
              <a:srgbClr val="E2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830DB7-080F-9D79-917C-67E5B184ECC1}"/>
              </a:ext>
            </a:extLst>
          </p:cNvPr>
          <p:cNvSpPr/>
          <p:nvPr/>
        </p:nvSpPr>
        <p:spPr>
          <a:xfrm>
            <a:off x="584200" y="1816100"/>
            <a:ext cx="2565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D6AC4E-1471-9C66-4E6F-F0C2F54FF48B}"/>
              </a:ext>
            </a:extLst>
          </p:cNvPr>
          <p:cNvSpPr/>
          <p:nvPr/>
        </p:nvSpPr>
        <p:spPr>
          <a:xfrm>
            <a:off x="584200" y="1816100"/>
            <a:ext cx="88900" cy="1498600"/>
          </a:xfrm>
          <a:prstGeom prst="roundRect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538C4-9D0F-CAD1-BE3E-96D5C3600C7C}"/>
              </a:ext>
            </a:extLst>
          </p:cNvPr>
          <p:cNvSpPr txBox="1"/>
          <p:nvPr/>
        </p:nvSpPr>
        <p:spPr>
          <a:xfrm>
            <a:off x="850900" y="2019300"/>
            <a:ext cx="21590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180 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B88BBD-88B6-3571-2457-16E3F764432E}"/>
              </a:ext>
            </a:extLst>
          </p:cNvPr>
          <p:cNvSpPr txBox="1"/>
          <p:nvPr/>
        </p:nvSpPr>
        <p:spPr>
          <a:xfrm>
            <a:off x="850900" y="2667000"/>
            <a:ext cx="2159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Two chartered sessions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957750-7C3B-8CD0-10A0-F9C8A433BA68}"/>
              </a:ext>
            </a:extLst>
          </p:cNvPr>
          <p:cNvSpPr/>
          <p:nvPr/>
        </p:nvSpPr>
        <p:spPr>
          <a:xfrm>
            <a:off x="3352800" y="1816100"/>
            <a:ext cx="2565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A65F1E-168C-64DA-016D-6AC7F8FB6F64}"/>
              </a:ext>
            </a:extLst>
          </p:cNvPr>
          <p:cNvSpPr/>
          <p:nvPr/>
        </p:nvSpPr>
        <p:spPr>
          <a:xfrm>
            <a:off x="3352800" y="1816100"/>
            <a:ext cx="88900" cy="1498600"/>
          </a:xfrm>
          <a:prstGeom prst="roundRect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0270F2-FCE4-B1AD-1447-CCE09F54D018}"/>
              </a:ext>
            </a:extLst>
          </p:cNvPr>
          <p:cNvSpPr txBox="1"/>
          <p:nvPr/>
        </p:nvSpPr>
        <p:spPr>
          <a:xfrm>
            <a:off x="3619500" y="2019300"/>
            <a:ext cx="21590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FE8F0F-BE05-4E8C-B670-EB5A699A2BD1}"/>
              </a:ext>
            </a:extLst>
          </p:cNvPr>
          <p:cNvSpPr txBox="1"/>
          <p:nvPr/>
        </p:nvSpPr>
        <p:spPr>
          <a:xfrm>
            <a:off x="3619500" y="2667000"/>
            <a:ext cx="2159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Novel root causes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FE3AA6-5681-7336-DAD3-70E8F7ED808C}"/>
              </a:ext>
            </a:extLst>
          </p:cNvPr>
          <p:cNvSpPr/>
          <p:nvPr/>
        </p:nvSpPr>
        <p:spPr>
          <a:xfrm>
            <a:off x="6121400" y="1816100"/>
            <a:ext cx="2565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817CAD-CAB4-84FA-1D15-A42FE8C2EAA8}"/>
              </a:ext>
            </a:extLst>
          </p:cNvPr>
          <p:cNvSpPr/>
          <p:nvPr/>
        </p:nvSpPr>
        <p:spPr>
          <a:xfrm>
            <a:off x="6121400" y="1816100"/>
            <a:ext cx="88900" cy="1498600"/>
          </a:xfrm>
          <a:prstGeom prst="roundRect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8E609F-7955-C448-80DA-3260E54EC4C2}"/>
              </a:ext>
            </a:extLst>
          </p:cNvPr>
          <p:cNvSpPr txBox="1"/>
          <p:nvPr/>
        </p:nvSpPr>
        <p:spPr>
          <a:xfrm>
            <a:off x="6388100" y="2019300"/>
            <a:ext cx="21590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67665-7484-E923-A8BD-100EF20F07E8}"/>
              </a:ext>
            </a:extLst>
          </p:cNvPr>
          <p:cNvSpPr txBox="1"/>
          <p:nvPr/>
        </p:nvSpPr>
        <p:spPr>
          <a:xfrm>
            <a:off x="6388100" y="2667000"/>
            <a:ext cx="2159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Known roots reproduced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2EC461-7D95-90E7-439D-A453CA37D52D}"/>
              </a:ext>
            </a:extLst>
          </p:cNvPr>
          <p:cNvSpPr/>
          <p:nvPr/>
        </p:nvSpPr>
        <p:spPr>
          <a:xfrm>
            <a:off x="8890000" y="1816100"/>
            <a:ext cx="27178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C9E2CA-AE7A-E979-E063-9E233385723F}"/>
              </a:ext>
            </a:extLst>
          </p:cNvPr>
          <p:cNvSpPr/>
          <p:nvPr/>
        </p:nvSpPr>
        <p:spPr>
          <a:xfrm>
            <a:off x="8890000" y="1816100"/>
            <a:ext cx="88900" cy="1498600"/>
          </a:xfrm>
          <a:prstGeom prst="roundRect">
            <a:avLst/>
          </a:prstGeom>
          <a:solidFill>
            <a:srgbClr val="C248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A169D-89F9-843A-88F0-1C0FB752327C}"/>
              </a:ext>
            </a:extLst>
          </p:cNvPr>
          <p:cNvSpPr txBox="1"/>
          <p:nvPr/>
        </p:nvSpPr>
        <p:spPr>
          <a:xfrm>
            <a:off x="9156700" y="2019300"/>
            <a:ext cx="2311400" cy="53860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000" b="1">
                <a:solidFill>
                  <a:srgbClr val="0F1F36"/>
                </a:solidFill>
                <a:latin typeface="Aptos Display" panose="020B0004020202020204" pitchFamily="34" charset="0"/>
              </a:rPr>
              <a:t>17 digits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03422A-107D-0720-A1A2-06C9715DE805}"/>
              </a:ext>
            </a:extLst>
          </p:cNvPr>
          <p:cNvSpPr txBox="1"/>
          <p:nvPr/>
        </p:nvSpPr>
        <p:spPr>
          <a:xfrm>
            <a:off x="9156700" y="2667000"/>
            <a:ext cx="23114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Phone number accepted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CEFB7EF-8B61-D76E-A8DD-C77B2B9D6659}"/>
              </a:ext>
            </a:extLst>
          </p:cNvPr>
          <p:cNvSpPr/>
          <p:nvPr/>
        </p:nvSpPr>
        <p:spPr>
          <a:xfrm>
            <a:off x="584200" y="3670300"/>
            <a:ext cx="5334000" cy="219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9091FC-8188-62CF-FC6E-2F9524437E4D}"/>
              </a:ext>
            </a:extLst>
          </p:cNvPr>
          <p:cNvSpPr txBox="1"/>
          <p:nvPr/>
        </p:nvSpPr>
        <p:spPr>
          <a:xfrm>
            <a:off x="863600" y="3911600"/>
            <a:ext cx="4724400" cy="2308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000" b="1">
                <a:solidFill>
                  <a:srgbClr val="677482"/>
                </a:solidFill>
                <a:latin typeface="Aptos" panose="020B0004020202020204" pitchFamily="34" charset="0"/>
              </a:rPr>
              <a:t>WHAT THE JOURNEY REVEALED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F6C6ED5-BADC-6229-204D-19A4C4D0EE29}"/>
              </a:ext>
            </a:extLst>
          </p:cNvPr>
          <p:cNvSpPr/>
          <p:nvPr/>
        </p:nvSpPr>
        <p:spPr>
          <a:xfrm>
            <a:off x="889000" y="44323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A86B66-F89D-7C87-D8D7-26982816B185}"/>
              </a:ext>
            </a:extLst>
          </p:cNvPr>
          <p:cNvSpPr txBox="1"/>
          <p:nvPr/>
        </p:nvSpPr>
        <p:spPr>
          <a:xfrm>
            <a:off x="1117600" y="4356100"/>
            <a:ext cx="44069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500">
                <a:solidFill>
                  <a:srgbClr val="222D39"/>
                </a:solidFill>
                <a:latin typeface="Aptos" panose="020B0004020202020204" pitchFamily="34" charset="0"/>
              </a:rPr>
              <a:t>No cart refetch after login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ED832A-D6E7-0302-2D52-A73147C54390}"/>
              </a:ext>
            </a:extLst>
          </p:cNvPr>
          <p:cNvSpPr/>
          <p:nvPr/>
        </p:nvSpPr>
        <p:spPr>
          <a:xfrm>
            <a:off x="889000" y="50927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67A533-E8B1-F1BF-0B74-E4483AF0D623}"/>
              </a:ext>
            </a:extLst>
          </p:cNvPr>
          <p:cNvSpPr txBox="1"/>
          <p:nvPr/>
        </p:nvSpPr>
        <p:spPr>
          <a:xfrm>
            <a:off x="1117600" y="5016500"/>
            <a:ext cx="44069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500">
                <a:solidFill>
                  <a:srgbClr val="222D39"/>
                </a:solidFill>
                <a:latin typeface="Aptos" panose="020B0004020202020204" pitchFamily="34" charset="0"/>
              </a:rPr>
              <a:t>Empty image-source warning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0DADAAA-51C3-5AF5-E34F-47A0F9251E38}"/>
              </a:ext>
            </a:extLst>
          </p:cNvPr>
          <p:cNvSpPr/>
          <p:nvPr/>
        </p:nvSpPr>
        <p:spPr>
          <a:xfrm>
            <a:off x="889000" y="5753100"/>
            <a:ext cx="88900" cy="889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6A0523-FD5D-0ED4-7284-DC9E29D5306A}"/>
              </a:ext>
            </a:extLst>
          </p:cNvPr>
          <p:cNvSpPr txBox="1"/>
          <p:nvPr/>
        </p:nvSpPr>
        <p:spPr>
          <a:xfrm>
            <a:off x="1117600" y="5676900"/>
            <a:ext cx="44069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500">
                <a:solidFill>
                  <a:srgbClr val="222D39"/>
                </a:solidFill>
                <a:latin typeface="Aptos" panose="020B0004020202020204" pitchFamily="34" charset="0"/>
              </a:rPr>
              <a:t>Missing checkout validation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340E0D9-0FE1-16BE-A137-F6D366322D09}"/>
              </a:ext>
            </a:extLst>
          </p:cNvPr>
          <p:cNvSpPr/>
          <p:nvPr/>
        </p:nvSpPr>
        <p:spPr>
          <a:xfrm>
            <a:off x="6350000" y="3670300"/>
            <a:ext cx="5257800" cy="2197100"/>
          </a:xfrm>
          <a:prstGeom prst="roundRect">
            <a:avLst/>
          </a:prstGeom>
          <a:solidFill>
            <a:srgbClr val="0F1F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497E6F-C50C-0E77-A5C8-0BD207418852}"/>
              </a:ext>
            </a:extLst>
          </p:cNvPr>
          <p:cNvSpPr txBox="1"/>
          <p:nvPr/>
        </p:nvSpPr>
        <p:spPr>
          <a:xfrm>
            <a:off x="6642100" y="3937000"/>
            <a:ext cx="4635500" cy="230832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000" b="1">
                <a:solidFill>
                  <a:srgbClr val="EF8B3D"/>
                </a:solidFill>
                <a:latin typeface="Aptos" panose="020B0004020202020204" pitchFamily="34" charset="0"/>
              </a:rPr>
              <a:t>MOST CONFUSING BEHAVIOUR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01FB9C-8A5A-CA74-7605-B34334F8951B}"/>
              </a:ext>
            </a:extLst>
          </p:cNvPr>
          <p:cNvSpPr txBox="1"/>
          <p:nvPr/>
        </p:nvSpPr>
        <p:spPr>
          <a:xfrm>
            <a:off x="6642100" y="4394200"/>
            <a:ext cx="4572000" cy="492443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Aptos Display" panose="020B0004020202020204" pitchFamily="34" charset="0"/>
              </a:rPr>
              <a:t>'Order failed'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462659-F829-4E49-6A6F-095905F9B2EF}"/>
              </a:ext>
            </a:extLst>
          </p:cNvPr>
          <p:cNvSpPr txBox="1"/>
          <p:nvPr/>
        </p:nvSpPr>
        <p:spPr>
          <a:xfrm>
            <a:off x="6642100" y="4965700"/>
            <a:ext cx="4572000" cy="30777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500">
                <a:solidFill>
                  <a:srgbClr val="CBD8E6"/>
                </a:solidFill>
                <a:latin typeface="Aptos" panose="020B0004020202020204" pitchFamily="34" charset="0"/>
              </a:rPr>
              <a:t>An expired session appeared to be an address error.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1C0F9F-A45B-989C-353C-A14E653A7997}"/>
              </a:ext>
            </a:extLst>
          </p:cNvPr>
          <p:cNvSpPr txBox="1"/>
          <p:nvPr/>
        </p:nvSpPr>
        <p:spPr>
          <a:xfrm>
            <a:off x="609600" y="6070600"/>
            <a:ext cx="109855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200">
                <a:solidFill>
                  <a:srgbClr val="677482"/>
                </a:solidFill>
                <a:latin typeface="Aptos" panose="020B0004020202020204" pitchFamily="34" charset="0"/>
              </a:rPr>
              <a:t>Charters, journals, and debriefs controlled exploratory coverage risk [3], [4].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C196D5-144C-AF71-5DA3-AB33E04A3F07}"/>
              </a:ext>
            </a:extLst>
          </p:cNvPr>
          <p:cNvSpPr txBox="1"/>
          <p:nvPr/>
        </p:nvSpPr>
        <p:spPr>
          <a:xfrm>
            <a:off x="584200" y="6553200"/>
            <a:ext cx="11023600" cy="20005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800">
                <a:solidFill>
                  <a:srgbClr val="677482"/>
                </a:solidFill>
                <a:latin typeface="Aptos" panose="020B0004020202020204" pitchFamily="34" charset="0"/>
              </a:rPr>
              <a:t>ENGI 9839 · Software Verification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32738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7BA10-4D02-028F-996A-C6DAADD40041}"/>
              </a:ext>
            </a:extLst>
          </p:cNvPr>
          <p:cNvSpPr txBox="1"/>
          <p:nvPr/>
        </p:nvSpPr>
        <p:spPr>
          <a:xfrm>
            <a:off x="584200" y="304800"/>
            <a:ext cx="9652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ANSWER AND 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405C3-CE84-20A4-AACD-A6AE740B08AB}"/>
              </a:ext>
            </a:extLst>
          </p:cNvPr>
          <p:cNvSpPr txBox="1"/>
          <p:nvPr/>
        </p:nvSpPr>
        <p:spPr>
          <a:xfrm>
            <a:off x="584200" y="622300"/>
            <a:ext cx="104140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900" b="1">
                <a:solidFill>
                  <a:srgbClr val="0F1F36"/>
                </a:solidFill>
                <a:latin typeface="Aptos Display" panose="020B0004020202020204" pitchFamily="34" charset="0"/>
              </a:rPr>
              <a:t>Use the techniques together—not as interchangeable substitutes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81460-A097-9C73-128C-ACD50B938364}"/>
              </a:ext>
            </a:extLst>
          </p:cNvPr>
          <p:cNvSpPr txBox="1"/>
          <p:nvPr/>
        </p:nvSpPr>
        <p:spPr>
          <a:xfrm>
            <a:off x="11150600" y="342900"/>
            <a:ext cx="444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677482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63BB41-13A6-2BD5-ADB3-F28EE056FABC}"/>
              </a:ext>
            </a:extLst>
          </p:cNvPr>
          <p:cNvCxnSpPr/>
          <p:nvPr/>
        </p:nvCxnSpPr>
        <p:spPr>
          <a:xfrm>
            <a:off x="584200" y="1397000"/>
            <a:ext cx="11023600" cy="0"/>
          </a:xfrm>
          <a:prstGeom prst="line">
            <a:avLst/>
          </a:prstGeom>
          <a:ln w="12700">
            <a:solidFill>
              <a:srgbClr val="E2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A4060B-5844-7EAB-73F5-894E5D5F1846}"/>
              </a:ext>
            </a:extLst>
          </p:cNvPr>
          <p:cNvSpPr/>
          <p:nvPr/>
        </p:nvSpPr>
        <p:spPr>
          <a:xfrm>
            <a:off x="584200" y="1841500"/>
            <a:ext cx="11023600" cy="1041400"/>
          </a:xfrm>
          <a:prstGeom prst="roundRect">
            <a:avLst/>
          </a:prstGeom>
          <a:solidFill>
            <a:srgbClr val="0F1F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183B5-9D84-768C-0F71-9A20DEA59DC0}"/>
              </a:ext>
            </a:extLst>
          </p:cNvPr>
          <p:cNvSpPr txBox="1"/>
          <p:nvPr/>
        </p:nvSpPr>
        <p:spPr>
          <a:xfrm>
            <a:off x="825500" y="2095500"/>
            <a:ext cx="10541000" cy="415498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Targeted business-state oracles + generated contract exploration + exploratory journeys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45C0BB-D81F-E42E-D3F5-110C3480B837}"/>
              </a:ext>
            </a:extLst>
          </p:cNvPr>
          <p:cNvSpPr/>
          <p:nvPr/>
        </p:nvSpPr>
        <p:spPr>
          <a:xfrm>
            <a:off x="584200" y="3327400"/>
            <a:ext cx="444500" cy="4445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B9DED-AC64-C2FE-2567-CA6EFF7450D3}"/>
              </a:ext>
            </a:extLst>
          </p:cNvPr>
          <p:cNvSpPr txBox="1"/>
          <p:nvPr/>
        </p:nvSpPr>
        <p:spPr>
          <a:xfrm>
            <a:off x="1193800" y="3340100"/>
            <a:ext cx="27940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 b="1">
                <a:solidFill>
                  <a:srgbClr val="0F1F36"/>
                </a:solidFill>
                <a:latin typeface="Aptos" panose="020B0004020202020204" pitchFamily="34" charset="0"/>
              </a:rPr>
              <a:t>Pair the oracles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E1BDD1-2542-09F5-33B8-935428324B64}"/>
              </a:ext>
            </a:extLst>
          </p:cNvPr>
          <p:cNvSpPr txBox="1"/>
          <p:nvPr/>
        </p:nvSpPr>
        <p:spPr>
          <a:xfrm>
            <a:off x="584200" y="3924300"/>
            <a:ext cx="3390900" cy="7232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Keep generated input breadth, then add explicit persistence, ownership, and rollback checks.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8ADDC4-F40B-A1E6-F54B-F23A7E6AFE37}"/>
              </a:ext>
            </a:extLst>
          </p:cNvPr>
          <p:cNvSpPr/>
          <p:nvPr/>
        </p:nvSpPr>
        <p:spPr>
          <a:xfrm>
            <a:off x="4356100" y="3327400"/>
            <a:ext cx="444500" cy="4445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A7B38-B59D-8B9F-920B-B8AED9435564}"/>
              </a:ext>
            </a:extLst>
          </p:cNvPr>
          <p:cNvSpPr txBox="1"/>
          <p:nvPr/>
        </p:nvSpPr>
        <p:spPr>
          <a:xfrm>
            <a:off x="4965700" y="3340100"/>
            <a:ext cx="27940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 b="1">
                <a:solidFill>
                  <a:srgbClr val="0F1F36"/>
                </a:solidFill>
                <a:latin typeface="Aptos" panose="020B0004020202020204" pitchFamily="34" charset="0"/>
              </a:rPr>
              <a:t>Explore lifecycles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233177-BD44-63CF-A8FB-A6533EA47F9B}"/>
              </a:ext>
            </a:extLst>
          </p:cNvPr>
          <p:cNvSpPr txBox="1"/>
          <p:nvPr/>
        </p:nvSpPr>
        <p:spPr>
          <a:xfrm>
            <a:off x="4356100" y="3924300"/>
            <a:ext cx="3390900" cy="7232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Use timeboxed journeys to expose authentication, navigation, and user-feedback failures.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E9CF9B-2278-15CC-75EA-4429092682BF}"/>
              </a:ext>
            </a:extLst>
          </p:cNvPr>
          <p:cNvSpPr/>
          <p:nvPr/>
        </p:nvSpPr>
        <p:spPr>
          <a:xfrm>
            <a:off x="8128000" y="3327400"/>
            <a:ext cx="444500" cy="444500"/>
          </a:xfrm>
          <a:prstGeom prst="ellipse">
            <a:avLst/>
          </a:prstGeom>
          <a:solidFill>
            <a:srgbClr val="193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733BB-4725-E947-312C-D349041567EB}"/>
              </a:ext>
            </a:extLst>
          </p:cNvPr>
          <p:cNvSpPr txBox="1"/>
          <p:nvPr/>
        </p:nvSpPr>
        <p:spPr>
          <a:xfrm>
            <a:off x="8737600" y="3340100"/>
            <a:ext cx="27940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 b="1">
                <a:solidFill>
                  <a:srgbClr val="0F1F36"/>
                </a:solidFill>
                <a:latin typeface="Aptos" panose="020B0004020202020204" pitchFamily="34" charset="0"/>
              </a:rPr>
              <a:t>Compare fairly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932F86-EB16-B226-009C-BAB7556C4B5E}"/>
              </a:ext>
            </a:extLst>
          </p:cNvPr>
          <p:cNvSpPr txBox="1"/>
          <p:nvPr/>
        </p:nvSpPr>
        <p:spPr>
          <a:xfrm>
            <a:off x="8128000" y="3924300"/>
            <a:ext cx="3390900" cy="50783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400">
                <a:solidFill>
                  <a:srgbClr val="222D39"/>
                </a:solidFill>
                <a:latin typeface="Aptos" panose="020B0004020202020204" pitchFamily="34" charset="0"/>
              </a:rPr>
              <a:t>Deduplicate root causes and never equate request volume with defects.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18F9DE-3B8C-87FA-ACE6-2BEA1BA7FA26}"/>
              </a:ext>
            </a:extLst>
          </p:cNvPr>
          <p:cNvSpPr/>
          <p:nvPr/>
        </p:nvSpPr>
        <p:spPr>
          <a:xfrm>
            <a:off x="584200" y="5143500"/>
            <a:ext cx="11023600" cy="546100"/>
          </a:xfrm>
          <a:prstGeom prst="roundRect">
            <a:avLst/>
          </a:prstGeom>
          <a:solidFill>
            <a:srgbClr val="EBEE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CB7B19-6649-F218-585E-6C0CBF8932EC}"/>
              </a:ext>
            </a:extLst>
          </p:cNvPr>
          <p:cNvSpPr txBox="1"/>
          <p:nvPr/>
        </p:nvSpPr>
        <p:spPr>
          <a:xfrm>
            <a:off x="762000" y="5257800"/>
            <a:ext cx="10668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100" b="1">
                <a:solidFill>
                  <a:srgbClr val="0F1F36"/>
                </a:solidFill>
                <a:latin typeface="Aptos" panose="020B0004020202020204" pitchFamily="34" charset="0"/>
              </a:rPr>
              <a:t>CHALLENGES: state isolation | schema/harness correction | aborted-run recovery | K-008 reclassification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D7C410B-7031-D8DB-56DC-79C063338CE2}"/>
              </a:ext>
            </a:extLst>
          </p:cNvPr>
          <p:cNvSpPr/>
          <p:nvPr/>
        </p:nvSpPr>
        <p:spPr>
          <a:xfrm>
            <a:off x="584200" y="5791200"/>
            <a:ext cx="11023600" cy="546100"/>
          </a:xfrm>
          <a:prstGeom prst="roundRect">
            <a:avLst/>
          </a:prstGeom>
          <a:solidFill>
            <a:srgbClr val="EFF1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B09D64-024A-6AA1-3EEF-BFC6C57F62F7}"/>
              </a:ext>
            </a:extLst>
          </p:cNvPr>
          <p:cNvSpPr txBox="1"/>
          <p:nvPr/>
        </p:nvSpPr>
        <p:spPr>
          <a:xfrm>
            <a:off x="762000" y="5905500"/>
            <a:ext cx="10668000" cy="238527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050">
                <a:solidFill>
                  <a:srgbClr val="677482"/>
                </a:solidFill>
                <a:latin typeface="Aptos" panose="020B0004020202020204" pitchFamily="34" charset="0"/>
              </a:rPr>
              <a:t>LIMITS: one application | two endpoints | one fuzzer | one exploratory tester | incomplete formal-effort records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25E26-BE00-FCC0-D099-60552134A53C}"/>
              </a:ext>
            </a:extLst>
          </p:cNvPr>
          <p:cNvSpPr txBox="1"/>
          <p:nvPr/>
        </p:nvSpPr>
        <p:spPr>
          <a:xfrm>
            <a:off x="584200" y="6553200"/>
            <a:ext cx="11023600" cy="20005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800">
                <a:solidFill>
                  <a:srgbClr val="677482"/>
                </a:solidFill>
                <a:latin typeface="Aptos" panose="020B0004020202020204" pitchFamily="34" charset="0"/>
              </a:rPr>
              <a:t>ENGI 9839 · Software Verification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312832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8B02D-83E9-2022-F77E-E03D4A85D727}"/>
              </a:ext>
            </a:extLst>
          </p:cNvPr>
          <p:cNvSpPr txBox="1"/>
          <p:nvPr/>
        </p:nvSpPr>
        <p:spPr>
          <a:xfrm>
            <a:off x="711200" y="584200"/>
            <a:ext cx="10160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6D51E-D072-0C42-7452-C1A8B7DB8962}"/>
              </a:ext>
            </a:extLst>
          </p:cNvPr>
          <p:cNvSpPr txBox="1"/>
          <p:nvPr/>
        </p:nvSpPr>
        <p:spPr>
          <a:xfrm>
            <a:off x="711200" y="1117600"/>
            <a:ext cx="10350500" cy="1061829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 Display" panose="020B0004020202020204" pitchFamily="34" charset="0"/>
              </a:rPr>
              <a:t>Breadth and depth answer
different testing questions.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A8CD72-BC36-9694-C10F-66EDFE267ABE}"/>
              </a:ext>
            </a:extLst>
          </p:cNvPr>
          <p:cNvSpPr/>
          <p:nvPr/>
        </p:nvSpPr>
        <p:spPr>
          <a:xfrm>
            <a:off x="736600" y="2882900"/>
            <a:ext cx="165100" cy="165100"/>
          </a:xfrm>
          <a:prstGeom prst="ellipse">
            <a:avLst/>
          </a:prstGeom>
          <a:solidFill>
            <a:srgbClr val="23A6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BD4E3-F87B-36F2-5ED5-E3DBCE582CA6}"/>
              </a:ext>
            </a:extLst>
          </p:cNvPr>
          <p:cNvSpPr txBox="1"/>
          <p:nvPr/>
        </p:nvSpPr>
        <p:spPr>
          <a:xfrm>
            <a:off x="1092200" y="2844800"/>
            <a:ext cx="33655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Human-designed oracles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D95CF-5069-B8DC-E3BD-E729739317BD}"/>
              </a:ext>
            </a:extLst>
          </p:cNvPr>
          <p:cNvSpPr txBox="1"/>
          <p:nvPr/>
        </p:nvSpPr>
        <p:spPr>
          <a:xfrm>
            <a:off x="4432300" y="2844800"/>
            <a:ext cx="64135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>
                <a:solidFill>
                  <a:srgbClr val="CBD8E6"/>
                </a:solidFill>
                <a:latin typeface="Aptos" panose="020B0004020202020204" pitchFamily="34" charset="0"/>
              </a:rPr>
              <a:t>revealed deeper data-integrity and transaction faults.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E93814-59FD-E3F3-8605-98DB8C50C38A}"/>
              </a:ext>
            </a:extLst>
          </p:cNvPr>
          <p:cNvSpPr/>
          <p:nvPr/>
        </p:nvSpPr>
        <p:spPr>
          <a:xfrm>
            <a:off x="736600" y="3898900"/>
            <a:ext cx="165100" cy="165100"/>
          </a:xfrm>
          <a:prstGeom prst="ellipse">
            <a:avLst/>
          </a:prstGeom>
          <a:solidFill>
            <a:srgbClr val="EF8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4B54D-6DCE-2E25-D72E-A0F11EDF29E6}"/>
              </a:ext>
            </a:extLst>
          </p:cNvPr>
          <p:cNvSpPr txBox="1"/>
          <p:nvPr/>
        </p:nvSpPr>
        <p:spPr>
          <a:xfrm>
            <a:off x="1092200" y="3860800"/>
            <a:ext cx="33655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Schema-driven fuzzing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F0377-682D-0C5D-BEB7-88D8E06BCD17}"/>
              </a:ext>
            </a:extLst>
          </p:cNvPr>
          <p:cNvSpPr txBox="1"/>
          <p:nvPr/>
        </p:nvSpPr>
        <p:spPr>
          <a:xfrm>
            <a:off x="4432300" y="3860800"/>
            <a:ext cx="64135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>
                <a:solidFill>
                  <a:srgbClr val="CBD8E6"/>
                </a:solidFill>
                <a:latin typeface="Aptos" panose="020B0004020202020204" pitchFamily="34" charset="0"/>
              </a:rPr>
              <a:t>efficiently exercised contract-invalid inputs at scale.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0B8655-F3CC-95D5-F308-8A14F291ED46}"/>
              </a:ext>
            </a:extLst>
          </p:cNvPr>
          <p:cNvSpPr/>
          <p:nvPr/>
        </p:nvSpPr>
        <p:spPr>
          <a:xfrm>
            <a:off x="736600" y="4914900"/>
            <a:ext cx="165100" cy="165100"/>
          </a:xfrm>
          <a:prstGeom prst="ellipse">
            <a:avLst/>
          </a:prstGeom>
          <a:solidFill>
            <a:srgbClr val="7C9B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8D1E0-CF80-29C1-008F-842AE1C9F58A}"/>
              </a:ext>
            </a:extLst>
          </p:cNvPr>
          <p:cNvSpPr txBox="1"/>
          <p:nvPr/>
        </p:nvSpPr>
        <p:spPr>
          <a:xfrm>
            <a:off x="1092200" y="4876800"/>
            <a:ext cx="33655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Exploratory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F6070-B9AD-26B8-626F-D6668D430220}"/>
              </a:ext>
            </a:extLst>
          </p:cNvPr>
          <p:cNvSpPr txBox="1"/>
          <p:nvPr/>
        </p:nvSpPr>
        <p:spPr>
          <a:xfrm>
            <a:off x="4432300" y="4876800"/>
            <a:ext cx="6413500" cy="338554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700">
                <a:solidFill>
                  <a:srgbClr val="CBD8E6"/>
                </a:solidFill>
                <a:latin typeface="Aptos" panose="020B0004020202020204" pitchFamily="34" charset="0"/>
              </a:rPr>
              <a:t>exposed authentication and frontend lifecycle behaviour.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BA911-9ECA-FDCA-3DC3-8ADC2561E4D9}"/>
              </a:ext>
            </a:extLst>
          </p:cNvPr>
          <p:cNvSpPr txBox="1"/>
          <p:nvPr/>
        </p:nvSpPr>
        <p:spPr>
          <a:xfrm>
            <a:off x="723900" y="6197600"/>
            <a:ext cx="5461000" cy="26161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200" b="1">
                <a:solidFill>
                  <a:srgbClr val="23A69A"/>
                </a:solidFill>
                <a:latin typeface="Aptos" panose="020B0004020202020204" pitchFamily="34" charset="0"/>
              </a:rPr>
              <a:t>Next: more endpoints, tools, testers, and mutation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EF2C32-E77D-DD2A-5C7D-EA797BA3C8DA}"/>
              </a:ext>
            </a:extLst>
          </p:cNvPr>
          <p:cNvSpPr txBox="1"/>
          <p:nvPr/>
        </p:nvSpPr>
        <p:spPr>
          <a:xfrm>
            <a:off x="9194800" y="6045200"/>
            <a:ext cx="2247900" cy="46166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2500" b="1">
                <a:solidFill>
                  <a:srgbClr val="FFFFFF"/>
                </a:solidFill>
                <a:latin typeface="Aptos Display" panose="020B00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02502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97AE7-20E3-DF37-6AB1-2A83768C3344}"/>
              </a:ext>
            </a:extLst>
          </p:cNvPr>
          <p:cNvSpPr txBox="1"/>
          <p:nvPr/>
        </p:nvSpPr>
        <p:spPr>
          <a:xfrm>
            <a:off x="584200" y="304800"/>
            <a:ext cx="96520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 b="1">
                <a:solidFill>
                  <a:srgbClr val="23A69A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F76ED-4BF1-2F55-415D-D4E599152D74}"/>
              </a:ext>
            </a:extLst>
          </p:cNvPr>
          <p:cNvSpPr txBox="1"/>
          <p:nvPr/>
        </p:nvSpPr>
        <p:spPr>
          <a:xfrm>
            <a:off x="584200" y="622300"/>
            <a:ext cx="10414000" cy="523220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2900" b="1">
                <a:solidFill>
                  <a:srgbClr val="0F1F36"/>
                </a:solidFill>
                <a:latin typeface="Aptos Display" panose="020B0004020202020204" pitchFamily="34" charset="0"/>
              </a:rPr>
              <a:t>IEEE bibliography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8333D-F009-3891-AACB-118324B470FD}"/>
              </a:ext>
            </a:extLst>
          </p:cNvPr>
          <p:cNvSpPr txBox="1"/>
          <p:nvPr/>
        </p:nvSpPr>
        <p:spPr>
          <a:xfrm>
            <a:off x="11150600" y="342900"/>
            <a:ext cx="444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r"/>
            <a:r>
              <a:rPr lang="en-US" sz="1100" b="1">
                <a:solidFill>
                  <a:srgbClr val="677482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6BE3F3-CF58-7F16-5063-ECE4E2B457F2}"/>
              </a:ext>
            </a:extLst>
          </p:cNvPr>
          <p:cNvCxnSpPr/>
          <p:nvPr/>
        </p:nvCxnSpPr>
        <p:spPr>
          <a:xfrm>
            <a:off x="584200" y="1397000"/>
            <a:ext cx="11023600" cy="0"/>
          </a:xfrm>
          <a:prstGeom prst="line">
            <a:avLst/>
          </a:prstGeom>
          <a:ln w="12700">
            <a:solidFill>
              <a:srgbClr val="E2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C4BB22-C589-520D-A2B9-3ED20697B86A}"/>
              </a:ext>
            </a:extLst>
          </p:cNvPr>
          <p:cNvSpPr/>
          <p:nvPr/>
        </p:nvSpPr>
        <p:spPr>
          <a:xfrm>
            <a:off x="584200" y="1778000"/>
            <a:ext cx="52578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96C92E-3C4E-BC97-5760-0F6BF87C6BBC}"/>
              </a:ext>
            </a:extLst>
          </p:cNvPr>
          <p:cNvSpPr/>
          <p:nvPr/>
        </p:nvSpPr>
        <p:spPr>
          <a:xfrm>
            <a:off x="6350000" y="1778000"/>
            <a:ext cx="52578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A716C-65ED-0301-03A5-7399281AF71C}"/>
              </a:ext>
            </a:extLst>
          </p:cNvPr>
          <p:cNvSpPr txBox="1"/>
          <p:nvPr/>
        </p:nvSpPr>
        <p:spPr>
          <a:xfrm>
            <a:off x="838200" y="2032000"/>
            <a:ext cx="4749800" cy="5847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>
                <a:solidFill>
                  <a:srgbClr val="222D39"/>
                </a:solidFill>
                <a:latin typeface="Aptos" panose="020B0004020202020204" pitchFamily="34" charset="0"/>
              </a:rPr>
              <a:t>[1] Z. Hatfield-Dodds and D. Dygalo, 'Deriving semantics-aware fuzzers from Web API schemas,' in 2022 IEEE/ACM ICSE Companion, 2022, pp. 345–346. doi: 10.1109/ICSE-Companion55297.2022.9793781.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D12DF-7D7F-813F-6B58-E5A728D20ACA}"/>
              </a:ext>
            </a:extLst>
          </p:cNvPr>
          <p:cNvSpPr txBox="1"/>
          <p:nvPr/>
        </p:nvSpPr>
        <p:spPr>
          <a:xfrm>
            <a:off x="838200" y="3302000"/>
            <a:ext cx="4749800" cy="5847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>
                <a:solidFill>
                  <a:srgbClr val="222D39"/>
                </a:solidFill>
                <a:latin typeface="Aptos" panose="020B0004020202020204" pitchFamily="34" charset="0"/>
              </a:rPr>
              <a:t>[2] H. Sartaj, S. Ali, and J. M. Gjøby, 'REST API testing in DevOps: A study on an evolving healthcare IoT application,' ACM Trans. Softw. Eng. Methodol., vol. 35, no. 6, pp. 1–46, 2026. doi: 10.1145/3765744.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D74D5-DA8D-093B-EB72-38452DC2D0D8}"/>
              </a:ext>
            </a:extLst>
          </p:cNvPr>
          <p:cNvSpPr txBox="1"/>
          <p:nvPr/>
        </p:nvSpPr>
        <p:spPr>
          <a:xfrm>
            <a:off x="838200" y="4572000"/>
            <a:ext cx="4749800" cy="5847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>
                <a:solidFill>
                  <a:srgbClr val="222D39"/>
                </a:solidFill>
                <a:latin typeface="Aptos" panose="020B0004020202020204" pitchFamily="34" charset="0"/>
              </a:rPr>
              <a:t>[3] J. Itkonen and K. Rautiainen, 'Exploratory testing: A multiple case study,' in 2005 Int. Symp. Empirical Software Engineering, 2005, pp. 84–93. doi: 10.1109/ISESE.2005.1541817.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E0E1A-F6AA-111B-5FB2-BEE3348AEF4C}"/>
              </a:ext>
            </a:extLst>
          </p:cNvPr>
          <p:cNvSpPr txBox="1"/>
          <p:nvPr/>
        </p:nvSpPr>
        <p:spPr>
          <a:xfrm>
            <a:off x="6604000" y="2032000"/>
            <a:ext cx="4749800" cy="5847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>
                <a:solidFill>
                  <a:srgbClr val="222D39"/>
                </a:solidFill>
                <a:latin typeface="Aptos" panose="020B0004020202020204" pitchFamily="34" charset="0"/>
              </a:rPr>
              <a:t>[4] J. Itkonen, M. V. Mäntylä, and C. Lassenius, 'Defect detection efficiency: Test case based vs. exploratory testing,' in First Int. Symp. Empirical Software Engineering and Measurement, 2007, pp. 61–70. doi: 10.1109/ESEM.2007.56.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4ACE8-DD68-75F8-ADFE-F69C869D6DEA}"/>
              </a:ext>
            </a:extLst>
          </p:cNvPr>
          <p:cNvSpPr txBox="1"/>
          <p:nvPr/>
        </p:nvSpPr>
        <p:spPr>
          <a:xfrm>
            <a:off x="6604000" y="3873500"/>
            <a:ext cx="4749800" cy="58477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1100">
                <a:solidFill>
                  <a:srgbClr val="222D39"/>
                </a:solidFill>
                <a:latin typeface="Aptos" panose="020B0004020202020204" pitchFamily="34" charset="0"/>
              </a:rPr>
              <a:t>[5] L. Inozemtseva and R. Holmes, 'Coverage is not strongly correlated with test suite effectiveness,' in Proc. 36th Int. Conf. Software Engineering, 2014, pp. 435–445. doi: 10.1145/2568225.2568271.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37698-991D-2231-A304-1B47E8CC9E57}"/>
              </a:ext>
            </a:extLst>
          </p:cNvPr>
          <p:cNvSpPr txBox="1"/>
          <p:nvPr/>
        </p:nvSpPr>
        <p:spPr>
          <a:xfrm>
            <a:off x="609600" y="6184900"/>
            <a:ext cx="10985500" cy="246221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pPr algn="ctr"/>
            <a:r>
              <a:rPr lang="en-US" sz="1100">
                <a:solidFill>
                  <a:srgbClr val="677482"/>
                </a:solidFill>
                <a:latin typeface="Aptos" panose="020B0004020202020204" pitchFamily="34" charset="0"/>
              </a:rPr>
              <a:t>The accompanying literature summary provides a source-by-source discussion.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EDD3F7-0EF9-3E8B-3536-2C61615CAFA4}"/>
              </a:ext>
            </a:extLst>
          </p:cNvPr>
          <p:cNvSpPr txBox="1"/>
          <p:nvPr/>
        </p:nvSpPr>
        <p:spPr>
          <a:xfrm>
            <a:off x="584200" y="6553200"/>
            <a:ext cx="11023600" cy="200055"/>
          </a:xfrm>
          <a:prstGeom prst="rect">
            <a:avLst/>
          </a:prstGeom>
          <a:noFill/>
        </p:spPr>
        <p:txBody>
          <a:bodyPr vert="horz" wrap="square" lIns="38100" tIns="38100" rIns="38100" bIns="38100" rtlCol="0">
            <a:spAutoFit/>
          </a:bodyPr>
          <a:lstStyle/>
          <a:p>
            <a:r>
              <a:rPr lang="en-US" sz="800">
                <a:solidFill>
                  <a:srgbClr val="677482"/>
                </a:solidFill>
                <a:latin typeface="Aptos" panose="020B0004020202020204" pitchFamily="34" charset="0"/>
              </a:rPr>
              <a:t>ENGI 9839 · Software Verification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456361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1229</Words>
  <Application>Microsoft Office PowerPoint</Application>
  <PresentationFormat>Custom</PresentationFormat>
  <Paragraphs>136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Olaleye Adeniyi Akinuli</dc:creator>
  <cp:lastModifiedBy>Olaleye Adeniyi Akinuli</cp:lastModifiedBy>
  <cp:revision>1</cp:revision>
  <dcterms:created xsi:type="dcterms:W3CDTF">2026-07-16T17:19:55Z</dcterms:created>
  <dcterms:modified xsi:type="dcterms:W3CDTF">2026-07-16T17:19:55Z</dcterms:modified>
</cp:coreProperties>
</file>